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6" r:id="rId9"/>
    <p:sldId id="261" r:id="rId10"/>
    <p:sldId id="262" r:id="rId11"/>
    <p:sldId id="263" r:id="rId12"/>
    <p:sldId id="268" r:id="rId13"/>
    <p:sldId id="265" r:id="rId1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大家有没有这样的经历？</a:t>
            </a:r>
            <a:endParaRPr lang="zh-CN" dirty="0"/>
          </a:p>
          <a:p>
            <a:r>
              <a:rPr lang="zh-CN" dirty="0"/>
              <a:t>群里突然发来一份文件，几十页的通知，或者一份业务材料。</a:t>
            </a:r>
            <a:endParaRPr lang="zh-CN" dirty="0"/>
          </a:p>
          <a:p>
            <a:r>
              <a:rPr lang="zh-CN" dirty="0"/>
              <a:t>文启是一个以文件为入口的个人行动助手，帮你理解一份文件对当下的你意味着什么，再把这份意义变成具体行动。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当你收到</a:t>
            </a:r>
            <a:r>
              <a:rPr lang="zh-CN" altLang="en-US" dirty="0"/>
              <a:t>一个文件</a:t>
            </a:r>
            <a:endParaRPr lang="zh-CN" altLang="en-US" dirty="0"/>
          </a:p>
          <a:p>
            <a:r>
              <a:rPr lang="zh-CN" altLang="en-US" dirty="0"/>
              <a:t>你还不知道它跟自己有没有关系，但为了知道这一点，你得先点开，从头往下读。</a:t>
            </a:r>
            <a:endParaRPr lang="en-US" altLang="zh-CN" dirty="0"/>
          </a:p>
          <a:p>
            <a:r>
              <a:rPr lang="zh-CN" altLang="en-US" dirty="0"/>
              <a:t>读到一段，判断一下：这个跟我无关。</a:t>
            </a:r>
            <a:endParaRPr lang="en-US" altLang="zh-CN" dirty="0"/>
          </a:p>
          <a:p>
            <a:r>
              <a:rPr lang="zh-CN" altLang="en-US" dirty="0"/>
              <a:t>再读一段：这个好像有关系，先记下来。</a:t>
            </a:r>
            <a:endParaRPr lang="en-US" altLang="zh-CN" dirty="0"/>
          </a:p>
          <a:p>
            <a:r>
              <a:rPr lang="zh-CN" altLang="en-US" dirty="0"/>
              <a:t>最后看完，可能真正需要关注的只有几处。</a:t>
            </a:r>
            <a:endParaRPr lang="zh-CN" altLang="en-US" dirty="0"/>
          </a:p>
          <a:p>
            <a:r>
              <a:rPr lang="zh-CN" altLang="en-US" dirty="0"/>
              <a:t>我们想减少的，就是这段反复阅读、筛选，再把内容和自己联系起来的过程。</a:t>
            </a:r>
            <a:endParaRPr lang="zh-CN" altLang="en-US" dirty="0"/>
          </a:p>
          <a:p>
            <a:r>
              <a:rPr lang="zh-CN" altLang="en-US" dirty="0"/>
              <a:t>能不能收到文件的时候，不必先自己通读一遍，而是先交给一个了解你的助手？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这就是文启。</a:t>
            </a:r>
            <a:endParaRPr lang="zh-CN" dirty="0"/>
          </a:p>
          <a:p>
            <a:r>
              <a:rPr lang="zh-CN" dirty="0"/>
              <a:t>我们希望，用户收到文件后的第一反应，是：</a:t>
            </a:r>
            <a:endParaRPr lang="zh-CN" dirty="0"/>
          </a:p>
          <a:p>
            <a:r>
              <a:rPr lang="zh-CN" dirty="0"/>
              <a:t>“先放进文启，看看这份文件对我意味着什么。”</a:t>
            </a:r>
            <a:endParaRPr lang="zh-CN" dirty="0"/>
          </a:p>
          <a:p>
            <a:r>
              <a:rPr lang="zh-CN" dirty="0"/>
              <a:t>如果把文件扔给通用 AI，它会把长文件压缩成短摘要。</a:t>
            </a:r>
            <a:endParaRPr lang="zh-CN" dirty="0"/>
          </a:p>
          <a:p>
            <a:r>
              <a:rPr lang="zh-CN" dirty="0"/>
              <a:t>但同一份摘要，发给谁都差不多。</a:t>
            </a:r>
            <a:endParaRPr lang="zh-CN" dirty="0"/>
          </a:p>
          <a:p>
            <a:r>
              <a:rPr lang="zh-CN" dirty="0"/>
              <a:t>而文启要做的是结合对你的了解，告诉你：哪些内容与你有关，为什么值得关注，有哪些要求或者限制需要注意。</a:t>
            </a:r>
            <a:endParaRPr lang="zh-CN" dirty="0"/>
          </a:p>
          <a:p>
            <a:r>
              <a:rPr lang="zh-CN" dirty="0"/>
              <a:t>文件是入口，个人背景是理解的基础，与你有关的解读才是交付的起点。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那么，一份文件交给文启之后，会发生什么？</a:t>
            </a:r>
            <a:endParaRPr lang="zh-CN" dirty="0"/>
          </a:p>
          <a:p>
            <a:r>
              <a:rPr lang="zh-CN" dirty="0"/>
              <a:t>首先，系统通过文件解析和模型理解，识别其中的关键内容、要求和限制。</a:t>
            </a:r>
            <a:endParaRPr lang="zh-CN" dirty="0"/>
          </a:p>
          <a:p>
            <a:r>
              <a:rPr lang="zh-CN" dirty="0"/>
              <a:t>但读取只是开始。接下来，系统会结合与你有关、已经确认的背景，判断哪些内容值得你关注。</a:t>
            </a:r>
            <a:endParaRPr lang="zh-CN" dirty="0"/>
          </a:p>
          <a:p>
            <a:r>
              <a:rPr lang="zh-CN" dirty="0"/>
              <a:t>它不是把所有内容压缩一遍，而是解释：为什么这几条，与你有关。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比如，一项要求为什么需要你注意，一个机会为什么可能适合你，都应该有依据。</a:t>
            </a:r>
            <a:endParaRPr lang="zh-CN" dirty="0"/>
          </a:p>
          <a:p>
            <a:r>
              <a:rPr lang="zh-CN" dirty="0"/>
              <a:t>哪些是文件明确写的，哪些结合了你提供的信息，哪些还不能确定，需要分清楚。你也可以回到原文核对，而不是只能接受系统给出的结论。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>
                <a:sym typeface="+mn-ea"/>
              </a:rPr>
              <a:t>如果缺少的信息会影响判断，文启再适当询问。你可以补充，也可以暂时不提供，不需要先填完一张模板式的个人资料表才能开始。</a:t>
            </a:r>
            <a:endParaRPr lang="zh-CN" dirty="0"/>
          </a:p>
          <a:p>
            <a:r>
              <a:rPr dirty="0">
                <a:sym typeface="+mn-ea"/>
              </a:rPr>
              <a:t>处理过程中，沉淀的内容不是整理</a:t>
            </a:r>
            <a:r>
              <a:rPr dirty="0">
                <a:sym typeface="+mn-ea"/>
              </a:rPr>
              <a:t>成一套预设模板，而是根据这份文件和实际交流逐步形成。相关内容会展示出来，你可以查看、修改，并决定是否保留。</a:t>
            </a:r>
            <a:endParaRPr lang="zh-CN" dirty="0"/>
          </a:p>
          <a:p>
            <a:r>
              <a:rPr dirty="0">
                <a:sym typeface="+mn-ea"/>
              </a:rPr>
              <a:t>这些积累，是为了支持之后的理解。</a:t>
            </a:r>
            <a:endParaRPr lang="zh-CN" dirty="0"/>
          </a:p>
          <a:p>
            <a:r>
              <a:rPr dirty="0">
                <a:sym typeface="+mn-ea"/>
              </a:rPr>
              <a:t>最终，文启要回答的，不只是“这份文件说了什么”，而是：</a:t>
            </a:r>
            <a:endParaRPr lang="zh-CN" dirty="0"/>
          </a:p>
          <a:p>
            <a:r>
              <a:rPr dirty="0">
                <a:sym typeface="+mn-ea"/>
              </a:rPr>
              <a:t>“这里有哪些事与我有关，它们对我意味着什么。”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如果缺少的信息会影响判断，文启再适当询问。你可以补充，也可以暂时不提供，不需要先填完一张模板式</a:t>
            </a:r>
            <a:r>
              <a:rPr lang="zh-CN" dirty="0"/>
              <a:t>的个人资料表才能开始。</a:t>
            </a:r>
            <a:endParaRPr lang="zh-CN" dirty="0"/>
          </a:p>
          <a:p>
            <a:r>
              <a:rPr lang="zh-CN" dirty="0"/>
              <a:t>处理过程中，沉淀的内容不是整理</a:t>
            </a:r>
            <a:r>
              <a:rPr lang="zh-CN" dirty="0"/>
              <a:t>成一套预设模板，而是根据这份文件和实际交流逐步形成。相关内容会展示出来，你可以查看、修改，并决定是否保留。</a:t>
            </a:r>
            <a:endParaRPr lang="zh-CN" dirty="0"/>
          </a:p>
          <a:p>
            <a:r>
              <a:rPr lang="zh-CN" dirty="0"/>
              <a:t>这些积累，是为了支持之后的理解。</a:t>
            </a:r>
            <a:endParaRPr lang="zh-CN" dirty="0"/>
          </a:p>
          <a:p>
            <a:r>
              <a:rPr lang="zh-CN" dirty="0"/>
              <a:t>最终，文启要回答的，不只是“这份文件说了什么”，而是：</a:t>
            </a:r>
            <a:endParaRPr lang="zh-CN" dirty="0"/>
          </a:p>
          <a:p>
            <a:r>
              <a:rPr lang="zh-CN" dirty="0"/>
              <a:t>“这里有哪些事与我有关，它们对我意味着什么。”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这套方式，不只适用于某一种身份。</a:t>
            </a:r>
            <a:endParaRPr lang="zh-CN" dirty="0"/>
          </a:p>
          <a:p>
            <a:r>
              <a:rPr lang="zh-CN" dirty="0"/>
              <a:t>对学生来说，一份奖学金通知，可能与他刚完成的项目成果有关。文启需要指出哪些经历可能用得上，还有哪些条件需要确认。</a:t>
            </a:r>
            <a:endParaRPr lang="zh-CN" dirty="0"/>
          </a:p>
          <a:p>
            <a:r>
              <a:rPr lang="zh-CN" dirty="0"/>
              <a:t>对教师来说，一份申报指南，结合正在推进的研究方向，可能意味着一个值得进一步了解的项目机会。</a:t>
            </a:r>
            <a:endParaRPr lang="zh-CN" dirty="0"/>
          </a:p>
          <a:p>
            <a:r>
              <a:rPr lang="zh-CN" dirty="0"/>
              <a:t>对企业中的业务负责人来说，一份合作方案，需要结合当前项目，找出值得关注的内容和需要向对方确认的问题。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理解了这份文件与你的关系之后，你可以决定是否继续。</a:t>
            </a:r>
            <a:endParaRPr lang="zh-CN" dirty="0"/>
          </a:p>
          <a:p>
            <a:r>
              <a:rPr lang="zh-CN" dirty="0"/>
              <a:t>如果只是想了解，或者觉得暂时无关，到这里就可以结束。</a:t>
            </a:r>
            <a:endParaRPr lang="zh-CN" dirty="0"/>
          </a:p>
          <a:p>
            <a:r>
              <a:rPr lang="zh-CN" dirty="0"/>
              <a:t>如果你想采取行动，文启再沿着已经确认的方向，帮助你准备具体产物。</a:t>
            </a:r>
            <a:endParaRPr lang="zh-CN" dirty="0"/>
          </a:p>
          <a:p>
            <a:r>
              <a:rPr lang="zh-CN" dirty="0"/>
              <a:t>比如，申请陈述草稿、需要核实的问题、材料清单，或者一份合作讨论提纲。</a:t>
            </a:r>
            <a:endParaRPr lang="zh-CN" dirty="0"/>
          </a:p>
          <a:p>
            <a:r>
              <a:rPr lang="zh-CN" dirty="0"/>
              <a:t>这些产物应当用上刚才已经理解和确认的信息，而不是让你重新解释一遍。</a:t>
            </a:r>
            <a:endParaRPr lang="zh-CN" dirty="0"/>
          </a:p>
          <a:p>
            <a:r>
              <a:rPr lang="zh-CN" dirty="0"/>
              <a:t>重要决定和对外发送，仍然由你确认。</a:t>
            </a:r>
            <a:endParaRPr lang="zh-CN" dirty="0"/>
          </a:p>
          <a:p>
            <a:r>
              <a:rPr lang="zh-CN" dirty="0"/>
              <a:t>从“这件事与我有关”，走到“我已经有了可以继续推进的东西”。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目前，我们先以个人端 MVP 验证这条路径，未来再探索团队协作和企业级应用。</a:t>
            </a:r>
            <a:endParaRPr lang="zh-CN" dirty="0"/>
          </a:p>
          <a:p>
            <a:r>
              <a:rPr lang="zh-CN" dirty="0"/>
              <a:t>我们在系统中准备了奖学金等预设体验，帮助大家具体感受这条流程。</a:t>
            </a:r>
            <a:endParaRPr lang="zh-CN" dirty="0"/>
          </a:p>
          <a:p>
            <a:r>
              <a:rPr lang="zh-CN" dirty="0"/>
              <a:t>但文启不以某一种身份或某一类通知为边界。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我们希望建立的是一种更轻松的文件处理方式：</a:t>
            </a:r>
            <a:endParaRPr lang="zh-CN" dirty="0"/>
          </a:p>
          <a:p>
            <a:r>
              <a:rPr lang="zh-CN" dirty="0"/>
              <a:t>收到文件，先交给文启。</a:t>
            </a:r>
            <a:endParaRPr lang="zh-CN" dirty="0"/>
          </a:p>
          <a:p>
            <a:r>
              <a:rPr lang="zh-CN" dirty="0"/>
              <a:t>不必每次从头阅读、筛选，也不必每次从头介绍自己。</a:t>
            </a:r>
            <a:endParaRPr lang="zh-CN" dirty="0"/>
          </a:p>
          <a:p>
            <a:r>
              <a:rPr lang="zh-CN" dirty="0"/>
              <a:t>让系统结合对你的了解，讲清楚文件对你的意义，再帮助你把这个意义变成行动。</a:t>
            </a:r>
            <a:endParaRPr lang="zh-CN" dirty="0"/>
          </a:p>
          <a:p>
            <a:r>
              <a:rPr lang="zh-CN" dirty="0"/>
              <a:t>谢谢大家。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enqi_roadshow_brand_yello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lang="zh-CN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lang="zh-CN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lang="zh-CN"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lang="zh-CN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lang="zh-CN"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036955" y="488950"/>
            <a:ext cx="586740" cy="4108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文启</a:t>
            </a:r>
            <a:endParaRPr lang="zh-CN" sz="2100" b="1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8" name="title"/>
          <p:cNvGrpSpPr/>
          <p:nvPr/>
        </p:nvGrpSpPr>
        <p:grpSpPr>
          <a:xfrm>
            <a:off x="590550" y="1581150"/>
            <a:ext cx="4575810" cy="2038985"/>
            <a:chOff x="590550" y="1581150"/>
            <a:chExt cx="4575810" cy="2038985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1581150"/>
              <a:ext cx="4575810" cy="20389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950"/>
                </a:lnSpc>
              </a:pPr>
              <a:r>
                <a:rPr lang="zh-CN" sz="60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收到文件，</a:t>
              </a:r>
              <a:br>
                <a:rPr lang="zh-CN" sz="60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60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先交给</a:t>
              </a:r>
              <a:r>
                <a:rPr lang="zh-CN" sz="6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文启</a:t>
              </a:r>
              <a:r>
                <a:rPr lang="zh-CN" sz="60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。</a:t>
              </a:r>
              <a:endParaRPr lang="zh-CN" sz="60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positioning"/>
          <p:cNvGrpSpPr/>
          <p:nvPr/>
        </p:nvGrpSpPr>
        <p:grpSpPr>
          <a:xfrm>
            <a:off x="637032" y="4019550"/>
            <a:ext cx="3696462" cy="1164844"/>
            <a:chOff x="637032" y="4019550"/>
            <a:chExt cx="3696462" cy="1164844"/>
          </a:xfrm>
        </p:grpSpPr>
        <p:sp>
          <p:nvSpPr>
            <p:cNvPr id="9" name="Line 9"/>
            <p:cNvSpPr/>
            <p:nvPr/>
          </p:nvSpPr>
          <p:spPr>
            <a:xfrm>
              <a:off x="647700" y="401955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37032" y="428942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以文件为入口的个人行动助手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556" y="483235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理解它对你的意义，再决定下一步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document-illustration"/>
          <p:cNvGrpSpPr/>
          <p:nvPr/>
        </p:nvGrpSpPr>
        <p:grpSpPr>
          <a:xfrm>
            <a:off x="6772275" y="1295400"/>
            <a:ext cx="4505325" cy="4324350"/>
            <a:chOff x="6772275" y="1295400"/>
            <a:chExt cx="4505325" cy="4324350"/>
          </a:xfrm>
        </p:grpSpPr>
        <p:sp>
          <p:nvSpPr>
            <p:cNvPr id="13" name="Rectangle 13"/>
            <p:cNvSpPr/>
            <p:nvPr/>
          </p:nvSpPr>
          <p:spPr>
            <a:xfrm>
              <a:off x="7162800" y="1295400"/>
              <a:ext cx="4114800" cy="4324350"/>
            </a:xfrm>
            <a:prstGeom prst="roundRect">
              <a:avLst>
                <a:gd name="adj" fmla="val 8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9734550" y="1619250"/>
              <a:ext cx="1104900" cy="1104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62800" y="4572000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43800" y="1952625"/>
              <a:ext cx="2286000" cy="2819400"/>
            </a:xfrm>
            <a:prstGeom prst="roundRect">
              <a:avLst>
                <a:gd name="adj" fmla="val 5000"/>
              </a:avLst>
            </a:prstGeom>
            <a:solidFill>
              <a:srgbClr val="F1E7C8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7772400" y="2305050"/>
              <a:ext cx="1562100" cy="9525"/>
            </a:xfrm>
            <a:custGeom>
              <a:avLst/>
              <a:gdLst/>
              <a:ahLst/>
              <a:cxnLst/>
              <a:rect l="l" t="t" r="r" b="b"/>
              <a:pathLst>
                <a:path w="1562100" h="9525">
                  <a:moveTo>
                    <a:pt x="0" y="0"/>
                  </a:moveTo>
                  <a:lnTo>
                    <a:pt x="1562100" y="0"/>
                  </a:lnTo>
                </a:path>
              </a:pathLst>
            </a:custGeom>
            <a:noFill/>
            <a:ln w="47625">
              <a:solidFill>
                <a:schemeClr val="dk1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772400" y="2514600"/>
              <a:ext cx="1352550" cy="9525"/>
            </a:xfrm>
            <a:custGeom>
              <a:avLst/>
              <a:gdLst/>
              <a:ahLst/>
              <a:cxnLst/>
              <a:rect l="l" t="t" r="r" b="b"/>
              <a:pathLst>
                <a:path w="1352550" h="9525">
                  <a:moveTo>
                    <a:pt x="0" y="0"/>
                  </a:moveTo>
                  <a:lnTo>
                    <a:pt x="1352550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096250" y="2457450"/>
              <a:ext cx="2305050" cy="2895600"/>
            </a:xfrm>
            <a:prstGeom prst="roundRect">
              <a:avLst>
                <a:gd name="adj" fmla="val 495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53806" y="267017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一份文件</a:t>
              </a:r>
              <a:endParaRPr lang="zh-CN" sz="18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8372475" y="3200400"/>
              <a:ext cx="1724025" cy="9525"/>
            </a:xfrm>
            <a:custGeom>
              <a:avLst/>
              <a:gdLst/>
              <a:ahLst/>
              <a:cxnLst/>
              <a:rect l="l" t="t" r="r" b="b"/>
              <a:pathLst>
                <a:path w="1724025" h="9525">
                  <a:moveTo>
                    <a:pt x="0" y="0"/>
                  </a:moveTo>
                  <a:lnTo>
                    <a:pt x="1724025" y="0"/>
                  </a:lnTo>
                </a:path>
              </a:pathLst>
            </a:custGeom>
            <a:noFill/>
            <a:ln w="38100">
              <a:solidFill>
                <a:srgbClr val="F1E7C8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372475" y="3409950"/>
              <a:ext cx="1562100" cy="9525"/>
            </a:xfrm>
            <a:custGeom>
              <a:avLst/>
              <a:gdLst/>
              <a:ahLst/>
              <a:cxnLst/>
              <a:rect l="l" t="t" r="r" b="b"/>
              <a:pathLst>
                <a:path w="1562100" h="9525">
                  <a:moveTo>
                    <a:pt x="0" y="0"/>
                  </a:moveTo>
                  <a:lnTo>
                    <a:pt x="1562100" y="0"/>
                  </a:lnTo>
                </a:path>
              </a:pathLst>
            </a:custGeom>
            <a:noFill/>
            <a:ln w="38100">
              <a:solidFill>
                <a:srgbClr val="F1E7C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334375" y="3638550"/>
              <a:ext cx="1790700" cy="428625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87156" y="371792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与你有关</a:t>
              </a:r>
              <a:endParaRPr lang="zh-CN" sz="18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8372475" y="4305300"/>
              <a:ext cx="1724025" cy="9525"/>
            </a:xfrm>
            <a:custGeom>
              <a:avLst/>
              <a:gdLst/>
              <a:ahLst/>
              <a:cxnLst/>
              <a:rect l="l" t="t" r="r" b="b"/>
              <a:pathLst>
                <a:path w="1724025" h="9525">
                  <a:moveTo>
                    <a:pt x="0" y="0"/>
                  </a:moveTo>
                  <a:lnTo>
                    <a:pt x="1724025" y="0"/>
                  </a:lnTo>
                </a:path>
              </a:pathLst>
            </a:custGeom>
            <a:noFill/>
            <a:ln w="38100">
              <a:solidFill>
                <a:srgbClr val="F1E7C8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372475" y="4514850"/>
              <a:ext cx="1362075" cy="9525"/>
            </a:xfrm>
            <a:custGeom>
              <a:avLst/>
              <a:gdLst/>
              <a:ahLst/>
              <a:cxnLst/>
              <a:rect l="l" t="t" r="r" b="b"/>
              <a:pathLst>
                <a:path w="1362075" h="9525">
                  <a:moveTo>
                    <a:pt x="0" y="0"/>
                  </a:moveTo>
                  <a:lnTo>
                    <a:pt x="1362075" y="0"/>
                  </a:lnTo>
                </a:path>
              </a:pathLst>
            </a:custGeom>
            <a:noFill/>
            <a:ln w="38100">
              <a:solidFill>
                <a:srgbClr val="F1E7C8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372475" y="4724400"/>
              <a:ext cx="1609725" cy="9525"/>
            </a:xfrm>
            <a:custGeom>
              <a:avLst/>
              <a:gdLst/>
              <a:ahLst/>
              <a:cxnLst/>
              <a:rect l="l" t="t" r="r" b="b"/>
              <a:pathLst>
                <a:path w="1609725" h="9525">
                  <a:moveTo>
                    <a:pt x="0" y="0"/>
                  </a:moveTo>
                  <a:lnTo>
                    <a:pt x="1609725" y="0"/>
                  </a:lnTo>
                </a:path>
              </a:pathLst>
            </a:custGeom>
            <a:noFill/>
            <a:ln w="38100">
              <a:solidFill>
                <a:srgbClr val="F1E7C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772275" y="4648200"/>
              <a:ext cx="165735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 w="9525">
              <a:solidFill>
                <a:srgbClr val="F1E7C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010400" y="4800600"/>
              <a:ext cx="190500" cy="190500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962775" y="5038725"/>
              <a:ext cx="285750" cy="161925"/>
            </a:xfrm>
            <a:prstGeom prst="roundRect">
              <a:avLst>
                <a:gd name="adj" fmla="val 47059"/>
              </a:avLst>
            </a:prstGeom>
            <a:solidFill>
              <a:srgbClr val="2B2B2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01306" y="486092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当下的你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41604" y="6143625"/>
            <a:ext cx="10888980" cy="186690"/>
            <a:chOff x="641604" y="6143625"/>
            <a:chExt cx="10888980" cy="186690"/>
          </a:xfrm>
        </p:grpSpPr>
        <p:sp>
          <p:nvSpPr>
            <p:cNvPr id="33" name="TextBox 33"/>
            <p:cNvSpPr txBox="1"/>
            <p:nvPr/>
          </p:nvSpPr>
          <p:spPr>
            <a:xfrm>
              <a:off x="641604" y="6143625"/>
              <a:ext cx="7620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轻舟过海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队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03584" y="6169025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36" name="图片 35" descr="44bf04cc095484867dd4f4bae193bdb1"/>
          <p:cNvPicPr>
            <a:picLocks noChangeAspect="1"/>
          </p:cNvPicPr>
          <p:nvPr/>
        </p:nvPicPr>
        <p:blipFill>
          <a:blip r:embed="rId1"/>
          <a:srcRect b="38945"/>
          <a:stretch>
            <a:fillRect/>
          </a:stretch>
        </p:blipFill>
        <p:spPr>
          <a:xfrm>
            <a:off x="163830" y="189230"/>
            <a:ext cx="1203325" cy="7346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836" y="571500"/>
            <a:ext cx="4920234" cy="981964"/>
            <a:chOff x="592836" y="571500"/>
            <a:chExt cx="4920234" cy="981964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71500"/>
              <a:ext cx="698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/ 痛点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908050"/>
              <a:ext cx="49202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读文件，累的不只是阅读</a:t>
              </a:r>
              <a:endParaRPr lang="zh-CN" sz="33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reading-stack"/>
          <p:cNvGrpSpPr/>
          <p:nvPr/>
        </p:nvGrpSpPr>
        <p:grpSpPr>
          <a:xfrm>
            <a:off x="638175" y="1943100"/>
            <a:ext cx="3409950" cy="3623183"/>
            <a:chOff x="638175" y="1943100"/>
            <a:chExt cx="3409950" cy="3623183"/>
          </a:xfrm>
        </p:grpSpPr>
        <p:sp>
          <p:nvSpPr>
            <p:cNvPr id="5" name="Rectangle 5"/>
            <p:cNvSpPr/>
            <p:nvPr/>
          </p:nvSpPr>
          <p:spPr>
            <a:xfrm>
              <a:off x="638175" y="2209800"/>
              <a:ext cx="2990850" cy="2886075"/>
            </a:xfrm>
            <a:prstGeom prst="roundRect">
              <a:avLst>
                <a:gd name="adj" fmla="val 39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838200" y="2076450"/>
              <a:ext cx="2990850" cy="3028950"/>
            </a:xfrm>
            <a:prstGeom prst="roundRect">
              <a:avLst>
                <a:gd name="adj" fmla="val 3822"/>
              </a:avLst>
            </a:prstGeom>
            <a:solidFill>
              <a:srgbClr val="FFFFFF"/>
            </a:solidFill>
            <a:ln w="9525">
              <a:solidFill>
                <a:srgbClr val="F1E7C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57275" y="1943100"/>
              <a:ext cx="2990850" cy="3152775"/>
            </a:xfrm>
            <a:prstGeom prst="roundRect">
              <a:avLst>
                <a:gd name="adj" fmla="val 3822"/>
              </a:avLst>
            </a:prstGeom>
            <a:solidFill>
              <a:srgbClr val="FFFFFF"/>
            </a:solidFill>
            <a:ln w="9525">
              <a:solidFill>
                <a:srgbClr val="F1E7C8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14831" y="2146300"/>
              <a:ext cx="17647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通知 / 业务材料</a:t>
              </a:r>
              <a:endParaRPr lang="zh-CN" sz="18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1323975" y="2676525"/>
              <a:ext cx="2409825" cy="9525"/>
            </a:xfrm>
            <a:custGeom>
              <a:avLst/>
              <a:gdLst/>
              <a:ahLst/>
              <a:cxnLst/>
              <a:rect l="l" t="t" r="r" b="b"/>
              <a:pathLst>
                <a:path w="2409825" h="9525">
                  <a:moveTo>
                    <a:pt x="0" y="0"/>
                  </a:moveTo>
                  <a:lnTo>
                    <a:pt x="2409825" y="0"/>
                  </a:lnTo>
                </a:path>
              </a:pathLst>
            </a:custGeom>
            <a:noFill/>
            <a:ln w="47625">
              <a:solidFill>
                <a:srgbClr val="F1E7C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323975" y="2905125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47625">
              <a:solidFill>
                <a:srgbClr val="F1E7C8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266825" y="3076575"/>
              <a:ext cx="2552700" cy="304800"/>
            </a:xfrm>
            <a:prstGeom prst="roundRect">
              <a:avLst>
                <a:gd name="adj" fmla="val 1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1343025" y="321945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323975" y="3600450"/>
              <a:ext cx="2409825" cy="9525"/>
            </a:xfrm>
            <a:custGeom>
              <a:avLst/>
              <a:gdLst/>
              <a:ahLst/>
              <a:cxnLst/>
              <a:rect l="l" t="t" r="r" b="b"/>
              <a:pathLst>
                <a:path w="2409825" h="9525">
                  <a:moveTo>
                    <a:pt x="0" y="0"/>
                  </a:moveTo>
                  <a:lnTo>
                    <a:pt x="2409825" y="0"/>
                  </a:lnTo>
                </a:path>
              </a:pathLst>
            </a:custGeom>
            <a:noFill/>
            <a:ln w="47625">
              <a:solidFill>
                <a:srgbClr val="F1E7C8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323975" y="3829050"/>
              <a:ext cx="2266950" cy="9525"/>
            </a:xfrm>
            <a:custGeom>
              <a:avLst/>
              <a:gdLst/>
              <a:ahLst/>
              <a:cxnLst/>
              <a:rect l="l" t="t" r="r" b="b"/>
              <a:pathLst>
                <a:path w="2266950" h="9525">
                  <a:moveTo>
                    <a:pt x="0" y="0"/>
                  </a:moveTo>
                  <a:lnTo>
                    <a:pt x="2266950" y="0"/>
                  </a:lnTo>
                </a:path>
              </a:pathLst>
            </a:custGeom>
            <a:noFill/>
            <a:ln w="47625">
              <a:solidFill>
                <a:srgbClr val="F1E7C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266825" y="4038600"/>
              <a:ext cx="2085975" cy="304800"/>
            </a:xfrm>
            <a:prstGeom prst="roundRect">
              <a:avLst>
                <a:gd name="adj" fmla="val 1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1343025" y="4181475"/>
              <a:ext cx="1657350" cy="9525"/>
            </a:xfrm>
            <a:custGeom>
              <a:avLst/>
              <a:gdLst/>
              <a:ahLst/>
              <a:cxnLst/>
              <a:rect l="l" t="t" r="r" b="b"/>
              <a:pathLst>
                <a:path w="1657350" h="9525">
                  <a:moveTo>
                    <a:pt x="0" y="0"/>
                  </a:moveTo>
                  <a:lnTo>
                    <a:pt x="16573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323975" y="4581525"/>
              <a:ext cx="2085975" cy="9525"/>
            </a:xfrm>
            <a:custGeom>
              <a:avLst/>
              <a:gdLst/>
              <a:ahLst/>
              <a:cxnLst/>
              <a:rect l="l" t="t" r="r" b="b"/>
              <a:pathLst>
                <a:path w="2085975" h="9525">
                  <a:moveTo>
                    <a:pt x="0" y="0"/>
                  </a:moveTo>
                  <a:lnTo>
                    <a:pt x="2085975" y="0"/>
                  </a:lnTo>
                </a:path>
              </a:pathLst>
            </a:custGeom>
            <a:noFill/>
            <a:ln w="47625">
              <a:solidFill>
                <a:srgbClr val="F1E7C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6370" y="530225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几十页内容，先从头读一遍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repeated-work"/>
          <p:cNvGrpSpPr/>
          <p:nvPr/>
        </p:nvGrpSpPr>
        <p:grpSpPr>
          <a:xfrm>
            <a:off x="5026533" y="2232025"/>
            <a:ext cx="6308217" cy="1292225"/>
            <a:chOff x="5026533" y="2232025"/>
            <a:chExt cx="6308217" cy="1292225"/>
          </a:xfrm>
        </p:grpSpPr>
        <p:sp>
          <p:nvSpPr>
            <p:cNvPr id="20" name="TextBox 20"/>
            <p:cNvSpPr txBox="1"/>
            <p:nvPr/>
          </p:nvSpPr>
          <p:spPr>
            <a:xfrm>
              <a:off x="5029581" y="223202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每次都要自己完成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26533" y="281305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阅读</a:t>
              </a:r>
              <a:endParaRPr lang="zh-CN" sz="24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56757" y="285115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26733" y="281305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筛选</a:t>
              </a:r>
              <a:endParaRPr lang="zh-CN" sz="24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56957" y="285115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6933" y="281305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与自己关联</a:t>
              </a:r>
              <a:endParaRPr lang="zh-CN" sz="24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5038725" y="3514725"/>
              <a:ext cx="6296025" cy="9525"/>
            </a:xfrm>
            <a:custGeom>
              <a:avLst/>
              <a:gdLst/>
              <a:ahLst/>
              <a:cxnLst/>
              <a:rect l="l" t="t" r="r" b="b"/>
              <a:pathLst>
                <a:path w="6296025" h="9525">
                  <a:moveTo>
                    <a:pt x="0" y="0"/>
                  </a:moveTo>
                  <a:lnTo>
                    <a:pt x="6296025" y="0"/>
                  </a:lnTo>
                </a:path>
              </a:pathLst>
            </a:custGeom>
            <a:noFill/>
            <a:ln w="9525">
              <a:solidFill>
                <a:srgbClr val="F1E7C8"/>
              </a:solidFill>
            </a:ln>
          </p:spPr>
        </p:sp>
      </p:grpSp>
      <p:grpSp>
        <p:nvGrpSpPr>
          <p:cNvPr id="30" name="takeaway"/>
          <p:cNvGrpSpPr/>
          <p:nvPr/>
        </p:nvGrpSpPr>
        <p:grpSpPr>
          <a:xfrm>
            <a:off x="5023485" y="3927475"/>
            <a:ext cx="3901440" cy="1647444"/>
            <a:chOff x="5023485" y="3927475"/>
            <a:chExt cx="3901440" cy="1647444"/>
          </a:xfrm>
        </p:grpSpPr>
        <p:sp>
          <p:nvSpPr>
            <p:cNvPr id="28" name="TextBox 28"/>
            <p:cNvSpPr txBox="1"/>
            <p:nvPr/>
          </p:nvSpPr>
          <p:spPr>
            <a:xfrm>
              <a:off x="5023485" y="3927475"/>
              <a:ext cx="3078480" cy="11677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75"/>
                </a:lnSpc>
              </a:pPr>
              <a:r>
                <a:rPr lang="zh-CN" sz="30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真正需要关注的，</a:t>
              </a:r>
              <a:br>
                <a:rPr lang="zh-CN" sz="30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30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可能只有几处。</a:t>
              </a:r>
              <a:endParaRPr lang="zh-CN" sz="30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29581" y="5222875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我们想减少的，就是这段反复的过程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604520" y="6169025"/>
            <a:ext cx="1586865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文启 · 从文件到个人意义</a:t>
            </a:r>
            <a:endParaRPr lang="zh-CN" sz="10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836" y="571500"/>
            <a:ext cx="6252972" cy="981964"/>
            <a:chOff x="592836" y="571500"/>
            <a:chExt cx="6252972" cy="981964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71500"/>
              <a:ext cx="698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/ 产品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90805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不只摘要，更是与你有关的解读</a:t>
              </a:r>
              <a:endParaRPr lang="zh-CN" sz="33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eneric-summary"/>
          <p:cNvGrpSpPr/>
          <p:nvPr/>
        </p:nvGrpSpPr>
        <p:grpSpPr>
          <a:xfrm>
            <a:off x="595122" y="2136775"/>
            <a:ext cx="3119628" cy="3380994"/>
            <a:chOff x="595122" y="2136775"/>
            <a:chExt cx="3119628" cy="3380994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2136775"/>
              <a:ext cx="13587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通用 AI 摘要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5122" y="2625725"/>
              <a:ext cx="1838706" cy="10812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125"/>
                </a:lnSpc>
              </a:pPr>
              <a:r>
                <a:rPr lang="zh-CN" sz="28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这份文件</a:t>
              </a:r>
              <a:br>
                <a:rPr lang="zh-CN" sz="28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8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说了什么？</a:t>
              </a:r>
              <a:endParaRPr lang="zh-CN" sz="285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647700" y="3943350"/>
              <a:ext cx="742950" cy="904875"/>
            </a:xfrm>
            <a:prstGeom prst="roundRect">
              <a:avLst>
                <a:gd name="adj" fmla="val 897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800100" y="4191000"/>
              <a:ext cx="447675" cy="9525"/>
            </a:xfrm>
            <a:custGeom>
              <a:avLst/>
              <a:gdLst/>
              <a:ahLst/>
              <a:cxnLst/>
              <a:rect l="l" t="t" r="r" b="b"/>
              <a:pathLst>
                <a:path w="447675" h="9525">
                  <a:moveTo>
                    <a:pt x="0" y="0"/>
                  </a:moveTo>
                  <a:lnTo>
                    <a:pt x="447675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00100" y="4333875"/>
              <a:ext cx="409575" cy="9525"/>
            </a:xfrm>
            <a:custGeom>
              <a:avLst/>
              <a:gdLst/>
              <a:ahLst/>
              <a:cxnLst/>
              <a:rect l="l" t="t" r="r" b="b"/>
              <a:pathLst>
                <a:path w="409575" h="9525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00100" y="447675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6682" y="419417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200275" y="4105275"/>
              <a:ext cx="1514475" cy="5715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2381250" y="4305300"/>
              <a:ext cx="1133475" cy="9525"/>
            </a:xfrm>
            <a:custGeom>
              <a:avLst/>
              <a:gdLst/>
              <a:ahLst/>
              <a:cxnLst/>
              <a:rect l="l" t="t" r="r" b="b"/>
              <a:pathLst>
                <a:path w="1133475" h="9525">
                  <a:moveTo>
                    <a:pt x="0" y="0"/>
                  </a:moveTo>
                  <a:lnTo>
                    <a:pt x="1133475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2381250" y="4467225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5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0456" y="516572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把长文件压缩成短摘要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personal-interpretation"/>
          <p:cNvGrpSpPr/>
          <p:nvPr/>
        </p:nvGrpSpPr>
        <p:grpSpPr>
          <a:xfrm>
            <a:off x="4933950" y="1952625"/>
            <a:ext cx="6648450" cy="3914775"/>
            <a:chOff x="4933950" y="1952625"/>
            <a:chExt cx="6648450" cy="3914775"/>
          </a:xfrm>
        </p:grpSpPr>
        <p:sp>
          <p:nvSpPr>
            <p:cNvPr id="17" name="Rectangle 17"/>
            <p:cNvSpPr/>
            <p:nvPr/>
          </p:nvSpPr>
          <p:spPr>
            <a:xfrm>
              <a:off x="4933950" y="1952625"/>
              <a:ext cx="6648450" cy="3914775"/>
            </a:xfrm>
            <a:prstGeom prst="roundRect">
              <a:avLst>
                <a:gd name="adj" fmla="val 583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05806" y="2174875"/>
              <a:ext cx="1993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文启 · 个性化解读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99710" y="2622550"/>
              <a:ext cx="3078480" cy="1120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zh-CN" sz="30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这份文件，</a:t>
              </a:r>
              <a:br>
                <a:rPr lang="zh-CN" sz="30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30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对我意味着什么？</a:t>
              </a:r>
              <a:endParaRPr lang="zh-CN" sz="30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5314950" y="3876675"/>
              <a:ext cx="5848350" cy="9525"/>
            </a:xfrm>
            <a:custGeom>
              <a:avLst/>
              <a:gdLst/>
              <a:ahLst/>
              <a:cxnLst/>
              <a:rect l="l" t="t" r="r" b="b"/>
              <a:pathLst>
                <a:path w="5848350" h="9525">
                  <a:moveTo>
                    <a:pt x="0" y="0"/>
                  </a:moveTo>
                  <a:lnTo>
                    <a:pt x="5848350" y="0"/>
                  </a:lnTo>
                </a:path>
              </a:pathLst>
            </a:custGeom>
            <a:noFill/>
            <a:ln w="9525">
              <a:solidFill>
                <a:srgbClr val="F1E7C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353050" y="42291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599557" y="411797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哪些内容与我有关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53050" y="474345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599557" y="463232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为什么值得关注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53050" y="52578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599557" y="5146675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有哪些要求或限制需要注意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04520" y="6169025"/>
            <a:ext cx="2272030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文件是入口，个人背景是理解的基础</a:t>
            </a:r>
            <a:endParaRPr lang="zh-CN" sz="10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836" y="571500"/>
            <a:ext cx="6252972" cy="981964"/>
            <a:chOff x="592836" y="571500"/>
            <a:chExt cx="6252972" cy="981964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71500"/>
              <a:ext cx="698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/ 系统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90805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从上传，到能核对的个性化解读</a:t>
              </a:r>
              <a:endParaRPr lang="zh-CN" sz="33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" name="Ellipse 5"/>
          <p:cNvSpPr/>
          <p:nvPr/>
        </p:nvSpPr>
        <p:spPr>
          <a:xfrm>
            <a:off x="1357630" y="1943100"/>
            <a:ext cx="381000" cy="38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498283" y="2035175"/>
            <a:ext cx="9906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</a:t>
            </a:r>
            <a:endParaRPr lang="zh-CN" sz="14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70710" y="1974850"/>
            <a:ext cx="1221740" cy="3689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上传文件</a:t>
            </a:r>
            <a:endParaRPr lang="zh-CN" sz="2400" b="1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extBox 8"/>
          <p:cNvSpPr txBox="1"/>
          <p:nvPr/>
        </p:nvSpPr>
        <p:spPr>
          <a:xfrm rot="5400000">
            <a:off x="2171700" y="2407920"/>
            <a:ext cx="406400" cy="492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200" b="1" dirty="0">
                <a:solidFill>
                  <a:schemeClr val="accent2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rPr>
              <a:t>→</a:t>
            </a:r>
            <a:endParaRPr lang="zh-CN" sz="3200" b="1" dirty="0">
              <a:solidFill>
                <a:schemeClr val="accent2"/>
              </a:solidFill>
              <a:latin typeface="Arial" panose="020B0604020202090204" pitchFamily="34" charset="0"/>
              <a:ea typeface="+mn-ea"/>
              <a:cs typeface="Arial" panose="020B0604020202090204" pitchFamily="34" charset="0"/>
            </a:endParaRPr>
          </a:p>
        </p:txBody>
      </p:sp>
      <p:sp>
        <p:nvSpPr>
          <p:cNvPr id="12" name="TextBox 12"/>
          <p:cNvSpPr txBox="1"/>
          <p:nvPr/>
        </p:nvSpPr>
        <p:spPr>
          <a:xfrm rot="5400000">
            <a:off x="2171700" y="3655060"/>
            <a:ext cx="406400" cy="492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200" b="1" dirty="0">
                <a:solidFill>
                  <a:schemeClr val="accent2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rPr>
              <a:t>→</a:t>
            </a:r>
            <a:endParaRPr lang="zh-CN" sz="3200" b="1" dirty="0">
              <a:solidFill>
                <a:schemeClr val="accent2"/>
              </a:solidFill>
              <a:latin typeface="Arial" panose="020B0604020202090204" pitchFamily="34" charset="0"/>
              <a:ea typeface="+mn-ea"/>
              <a:cs typeface="Arial" panose="020B0604020202090204" pitchFamily="34" charset="0"/>
            </a:endParaRPr>
          </a:p>
        </p:txBody>
      </p:sp>
      <p:grpSp>
        <p:nvGrpSpPr>
          <p:cNvPr id="28" name="mechanism"/>
          <p:cNvGrpSpPr/>
          <p:nvPr/>
        </p:nvGrpSpPr>
        <p:grpSpPr>
          <a:xfrm>
            <a:off x="619506" y="5603875"/>
            <a:ext cx="7045452" cy="352044"/>
            <a:chOff x="619506" y="5603875"/>
            <a:chExt cx="7045452" cy="352044"/>
          </a:xfrm>
        </p:grpSpPr>
        <p:sp>
          <p:nvSpPr>
            <p:cNvPr id="27" name="TextBox 27"/>
            <p:cNvSpPr txBox="1"/>
            <p:nvPr/>
          </p:nvSpPr>
          <p:spPr>
            <a:xfrm>
              <a:off x="619506" y="5603875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文件解析只是开始；关联判断，结合与你有关、已经确认的背景。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04520" y="6169025"/>
            <a:ext cx="1706880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示意区域并非真实产品界面</a:t>
            </a:r>
            <a:endParaRPr lang="zh-CN" sz="10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9490" y="1654810"/>
            <a:ext cx="5588635" cy="3726180"/>
          </a:xfrm>
          <a:prstGeom prst="rect">
            <a:avLst/>
          </a:prstGeom>
        </p:spPr>
      </p:pic>
      <p:sp>
        <p:nvSpPr>
          <p:cNvPr id="33" name="Ellipse 9"/>
          <p:cNvSpPr/>
          <p:nvPr/>
        </p:nvSpPr>
        <p:spPr>
          <a:xfrm>
            <a:off x="1341120" y="3095625"/>
            <a:ext cx="381000" cy="38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4" name="TextBox 10"/>
          <p:cNvSpPr txBox="1"/>
          <p:nvPr/>
        </p:nvSpPr>
        <p:spPr>
          <a:xfrm>
            <a:off x="1481773" y="3187700"/>
            <a:ext cx="9906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</a:t>
            </a:r>
            <a:endParaRPr lang="zh-CN" sz="14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5" name="TextBox 11"/>
          <p:cNvSpPr txBox="1"/>
          <p:nvPr/>
        </p:nvSpPr>
        <p:spPr>
          <a:xfrm>
            <a:off x="1854200" y="3127375"/>
            <a:ext cx="1527175" cy="3689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个性化解读</a:t>
            </a:r>
            <a:endParaRPr lang="zh-CN" sz="2400" b="1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Ellipse 13"/>
          <p:cNvSpPr/>
          <p:nvPr/>
        </p:nvSpPr>
        <p:spPr>
          <a:xfrm>
            <a:off x="1341120" y="4279900"/>
            <a:ext cx="381000" cy="38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7" name="TextBox 14"/>
          <p:cNvSpPr txBox="1"/>
          <p:nvPr/>
        </p:nvSpPr>
        <p:spPr>
          <a:xfrm>
            <a:off x="1481773" y="4371975"/>
            <a:ext cx="9906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</a:t>
            </a:r>
            <a:endParaRPr lang="zh-CN" sz="14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8" name="TextBox 15"/>
          <p:cNvSpPr txBox="1"/>
          <p:nvPr/>
        </p:nvSpPr>
        <p:spPr>
          <a:xfrm>
            <a:off x="1854200" y="4311650"/>
            <a:ext cx="1221740" cy="3689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原文依据</a:t>
            </a:r>
            <a:endParaRPr lang="zh-CN" sz="2400" b="1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836" y="571500"/>
            <a:ext cx="5808726" cy="981964"/>
            <a:chOff x="592836" y="571500"/>
            <a:chExt cx="5808726" cy="981964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71500"/>
              <a:ext cx="1530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/ 系统 · 可信边界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90805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结论有依据，不确定也说清楚</a:t>
              </a:r>
              <a:endParaRPr lang="zh-CN" sz="33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source-document"/>
          <p:cNvGrpSpPr/>
          <p:nvPr/>
        </p:nvGrpSpPr>
        <p:grpSpPr>
          <a:xfrm>
            <a:off x="619125" y="2000250"/>
            <a:ext cx="3276600" cy="2943225"/>
            <a:chOff x="619125" y="2000250"/>
            <a:chExt cx="3276600" cy="2943225"/>
          </a:xfrm>
        </p:grpSpPr>
        <p:sp>
          <p:nvSpPr>
            <p:cNvPr id="5" name="Rectangle 5"/>
            <p:cNvSpPr/>
            <p:nvPr/>
          </p:nvSpPr>
          <p:spPr>
            <a:xfrm>
              <a:off x="619125" y="2000250"/>
              <a:ext cx="3276600" cy="2943225"/>
            </a:xfrm>
            <a:prstGeom prst="roundRect">
              <a:avLst>
                <a:gd name="adj" fmla="val 5825"/>
              </a:avLst>
            </a:prstGeom>
            <a:solidFill>
              <a:srgbClr val="FFFFFF"/>
            </a:solidFill>
            <a:ln w="9525">
              <a:solidFill>
                <a:srgbClr val="F1E7C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923925" y="2324100"/>
              <a:ext cx="438150" cy="542925"/>
            </a:xfrm>
            <a:prstGeom prst="roundRect">
              <a:avLst>
                <a:gd name="adj" fmla="val 1304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1028700" y="24765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rgbClr val="2B2B2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028700" y="2581275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9050">
              <a:solidFill>
                <a:srgbClr val="2B2B2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028700" y="26860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>
              <a:solidFill>
                <a:srgbClr val="2B2B2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11733" y="3184525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文件明确写的</a:t>
              </a:r>
              <a:endParaRPr lang="zh-CN" sz="24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14781" y="3740150"/>
              <a:ext cx="2304288" cy="7235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关键内容、要求与限制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有原文可以核对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confirmed-background"/>
          <p:cNvGrpSpPr/>
          <p:nvPr/>
        </p:nvGrpSpPr>
        <p:grpSpPr>
          <a:xfrm>
            <a:off x="4448175" y="2000250"/>
            <a:ext cx="3276600" cy="2943225"/>
            <a:chOff x="4448175" y="2000250"/>
            <a:chExt cx="3276600" cy="2943225"/>
          </a:xfrm>
        </p:grpSpPr>
        <p:sp>
          <p:nvSpPr>
            <p:cNvPr id="13" name="Rectangle 13"/>
            <p:cNvSpPr/>
            <p:nvPr/>
          </p:nvSpPr>
          <p:spPr>
            <a:xfrm>
              <a:off x="4448175" y="2000250"/>
              <a:ext cx="3276600" cy="2943225"/>
            </a:xfrm>
            <a:prstGeom prst="roundRect">
              <a:avLst>
                <a:gd name="adj" fmla="val 5825"/>
              </a:avLst>
            </a:prstGeom>
            <a:solidFill>
              <a:srgbClr val="FFFFFF"/>
            </a:solidFill>
            <a:ln w="9525">
              <a:solidFill>
                <a:srgbClr val="F1E7C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4819650" y="2333625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752975" y="2667000"/>
              <a:ext cx="419100" cy="209550"/>
            </a:xfrm>
            <a:prstGeom prst="roundRect">
              <a:avLst>
                <a:gd name="adj" fmla="val 50000"/>
              </a:avLst>
            </a:prstGeom>
            <a:solidFill>
              <a:srgbClr val="2B2B2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40783" y="3184525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结合你提供的</a:t>
              </a:r>
              <a:endParaRPr lang="zh-CN" sz="24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43831" y="3740150"/>
              <a:ext cx="2075688" cy="7235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以已经确认的背景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解释为什么与你有关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uncertainty"/>
          <p:cNvGrpSpPr/>
          <p:nvPr/>
        </p:nvGrpSpPr>
        <p:grpSpPr>
          <a:xfrm>
            <a:off x="8277225" y="2000250"/>
            <a:ext cx="3295650" cy="2943225"/>
            <a:chOff x="8277225" y="2000250"/>
            <a:chExt cx="3295650" cy="2943225"/>
          </a:xfrm>
        </p:grpSpPr>
        <p:sp>
          <p:nvSpPr>
            <p:cNvPr id="19" name="Rectangle 19"/>
            <p:cNvSpPr/>
            <p:nvPr/>
          </p:nvSpPr>
          <p:spPr>
            <a:xfrm>
              <a:off x="8277225" y="2000250"/>
              <a:ext cx="3295650" cy="2943225"/>
            </a:xfrm>
            <a:prstGeom prst="roundRect">
              <a:avLst>
                <a:gd name="adj" fmla="val 5825"/>
              </a:avLst>
            </a:prstGeom>
            <a:solidFill>
              <a:srgbClr val="FFFFFF"/>
            </a:solidFill>
            <a:ln w="9525">
              <a:solidFill>
                <a:srgbClr val="F1E7C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8524875" y="2362200"/>
              <a:ext cx="476250" cy="47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57516" y="241300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?</a:t>
              </a:r>
              <a:endParaRPr lang="zh-CN" sz="24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69833" y="3184525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还不能确定的</a:t>
              </a:r>
              <a:endParaRPr lang="zh-CN" sz="24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72881" y="3740150"/>
              <a:ext cx="2075688" cy="7235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明确区分不确定信息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需要时再向你询问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verification-takeaway"/>
          <p:cNvGrpSpPr/>
          <p:nvPr/>
        </p:nvGrpSpPr>
        <p:grpSpPr>
          <a:xfrm>
            <a:off x="609600" y="5314950"/>
            <a:ext cx="10972800" cy="575818"/>
            <a:chOff x="609600" y="5314950"/>
            <a:chExt cx="10972800" cy="575818"/>
          </a:xfrm>
        </p:grpSpPr>
        <p:sp>
          <p:nvSpPr>
            <p:cNvPr id="25" name="Line 25"/>
            <p:cNvSpPr/>
            <p:nvPr/>
          </p:nvSpPr>
          <p:spPr>
            <a:xfrm>
              <a:off x="609600" y="5314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F1E7C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975610" y="5480050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你可以回到原文核对，而不是只能接受一个结论。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04520" y="6169025"/>
            <a:ext cx="2272030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依据、背景与不确定性，需要分清楚</a:t>
            </a:r>
            <a:endParaRPr lang="zh-CN" sz="10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title"/>
          <p:cNvGrpSpPr/>
          <p:nvPr/>
        </p:nvGrpSpPr>
        <p:grpSpPr>
          <a:xfrm>
            <a:off x="592836" y="571500"/>
            <a:ext cx="5808726" cy="981964"/>
            <a:chOff x="592836" y="571500"/>
            <a:chExt cx="5808726" cy="981964"/>
          </a:xfrm>
        </p:grpSpPr>
        <p:sp>
          <p:nvSpPr>
            <p:cNvPr id="32" name="TextBox 2"/>
            <p:cNvSpPr txBox="1"/>
            <p:nvPr/>
          </p:nvSpPr>
          <p:spPr>
            <a:xfrm>
              <a:off x="603504" y="571500"/>
              <a:ext cx="1530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/ 系统 · 个人背景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"/>
            <p:cNvSpPr txBox="1"/>
            <p:nvPr/>
          </p:nvSpPr>
          <p:spPr>
            <a:xfrm>
              <a:off x="592836" y="90805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不必先填表，也不必每次重来</a:t>
              </a:r>
              <a:endParaRPr lang="zh-CN" sz="33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progressive-understanding"/>
          <p:cNvGrpSpPr/>
          <p:nvPr/>
        </p:nvGrpSpPr>
        <p:grpSpPr>
          <a:xfrm>
            <a:off x="592836" y="2212975"/>
            <a:ext cx="4475988" cy="1617218"/>
            <a:chOff x="592836" y="2212975"/>
            <a:chExt cx="4475988" cy="1617218"/>
          </a:xfrm>
        </p:grpSpPr>
        <p:sp>
          <p:nvSpPr>
            <p:cNvPr id="35" name="TextBox 5"/>
            <p:cNvSpPr txBox="1"/>
            <p:nvPr/>
          </p:nvSpPr>
          <p:spPr>
            <a:xfrm>
              <a:off x="592836" y="221297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背景，边使用边形成。</a:t>
              </a:r>
              <a:endParaRPr lang="zh-CN" sz="33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6"/>
            <p:cNvSpPr txBox="1"/>
            <p:nvPr/>
          </p:nvSpPr>
          <p:spPr>
            <a:xfrm>
              <a:off x="598932" y="2962275"/>
              <a:ext cx="42885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缺少的信息影响判断时，再适当询问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你可以补充，也可以暂时不提供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memory-illustration"/>
          <p:cNvGrpSpPr/>
          <p:nvPr/>
        </p:nvGrpSpPr>
        <p:grpSpPr>
          <a:xfrm>
            <a:off x="7543800" y="1914525"/>
            <a:ext cx="3733800" cy="2247900"/>
            <a:chOff x="7543800" y="1914525"/>
            <a:chExt cx="3733800" cy="2247900"/>
          </a:xfrm>
        </p:grpSpPr>
        <p:sp>
          <p:nvSpPr>
            <p:cNvPr id="38" name="Rectangle 8"/>
            <p:cNvSpPr/>
            <p:nvPr/>
          </p:nvSpPr>
          <p:spPr>
            <a:xfrm>
              <a:off x="7829550" y="1914525"/>
              <a:ext cx="1295400" cy="1562100"/>
            </a:xfrm>
            <a:prstGeom prst="roundRect">
              <a:avLst>
                <a:gd name="adj" fmla="val 735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Line 9"/>
            <p:cNvSpPr/>
            <p:nvPr/>
          </p:nvSpPr>
          <p:spPr>
            <a:xfrm>
              <a:off x="8029575" y="2219325"/>
              <a:ext cx="866775" cy="9525"/>
            </a:xfrm>
            <a:custGeom>
              <a:avLst/>
              <a:gdLst/>
              <a:ahLst/>
              <a:cxnLst/>
              <a:rect l="l" t="t" r="r" b="b"/>
              <a:pathLst>
                <a:path w="866775" h="9525">
                  <a:moveTo>
                    <a:pt x="0" y="0"/>
                  </a:moveTo>
                  <a:lnTo>
                    <a:pt x="866775" y="0"/>
                  </a:lnTo>
                </a:path>
              </a:pathLst>
            </a:custGeom>
            <a:noFill/>
            <a:ln w="38100">
              <a:solidFill>
                <a:schemeClr val="dk1"/>
              </a:solidFill>
            </a:ln>
          </p:spPr>
        </p:sp>
        <p:sp>
          <p:nvSpPr>
            <p:cNvPr id="40" name="Line 10"/>
            <p:cNvSpPr/>
            <p:nvPr/>
          </p:nvSpPr>
          <p:spPr>
            <a:xfrm>
              <a:off x="8029575" y="24003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38100">
              <a:solidFill>
                <a:schemeClr val="dk1"/>
              </a:solidFill>
            </a:ln>
          </p:spPr>
        </p:sp>
        <p:sp>
          <p:nvSpPr>
            <p:cNvPr id="41" name="Rectangle 11"/>
            <p:cNvSpPr/>
            <p:nvPr/>
          </p:nvSpPr>
          <p:spPr>
            <a:xfrm>
              <a:off x="9239250" y="2533650"/>
              <a:ext cx="2038350" cy="885825"/>
            </a:xfrm>
            <a:prstGeom prst="roundRect">
              <a:avLst>
                <a:gd name="adj" fmla="val 1720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12"/>
            <p:cNvSpPr txBox="1"/>
            <p:nvPr/>
          </p:nvSpPr>
          <p:spPr>
            <a:xfrm>
              <a:off x="9643491" y="268922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文件与交流</a:t>
              </a:r>
              <a:endPara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13"/>
            <p:cNvSpPr txBox="1"/>
            <p:nvPr/>
          </p:nvSpPr>
          <p:spPr>
            <a:xfrm>
              <a:off x="9706356" y="30353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逐步形成背景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Ellipse 14"/>
            <p:cNvSpPr/>
            <p:nvPr/>
          </p:nvSpPr>
          <p:spPr>
            <a:xfrm>
              <a:off x="7543800" y="2828925"/>
              <a:ext cx="1333500" cy="133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Ellipse 15"/>
            <p:cNvSpPr/>
            <p:nvPr/>
          </p:nvSpPr>
          <p:spPr>
            <a:xfrm>
              <a:off x="8020050" y="3143250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6" name="Rectangle 16"/>
            <p:cNvSpPr/>
            <p:nvPr/>
          </p:nvSpPr>
          <p:spPr>
            <a:xfrm>
              <a:off x="7905750" y="3600450"/>
              <a:ext cx="609600" cy="314325"/>
            </a:xfrm>
            <a:prstGeom prst="roundRect">
              <a:avLst>
                <a:gd name="adj" fmla="val 48485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7" name="Line 17"/>
            <p:cNvSpPr/>
            <p:nvPr/>
          </p:nvSpPr>
          <p:spPr>
            <a:xfrm>
              <a:off x="8915400" y="349567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8" name="Ellipse 18"/>
            <p:cNvSpPr/>
            <p:nvPr/>
          </p:nvSpPr>
          <p:spPr>
            <a:xfrm>
              <a:off x="9620250" y="3457575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49" name="user-control"/>
          <p:cNvGrpSpPr/>
          <p:nvPr/>
        </p:nvGrpSpPr>
        <p:grpSpPr>
          <a:xfrm>
            <a:off x="600456" y="4648200"/>
            <a:ext cx="10981944" cy="1164844"/>
            <a:chOff x="600456" y="4648200"/>
            <a:chExt cx="10981944" cy="1164844"/>
          </a:xfrm>
        </p:grpSpPr>
        <p:sp>
          <p:nvSpPr>
            <p:cNvPr id="50" name="Line 20"/>
            <p:cNvSpPr/>
            <p:nvPr/>
          </p:nvSpPr>
          <p:spPr>
            <a:xfrm>
              <a:off x="609600" y="4648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F1E7C8"/>
              </a:solidFill>
            </a:ln>
          </p:spPr>
        </p:sp>
        <p:sp>
          <p:nvSpPr>
            <p:cNvPr id="51" name="TextBox 21"/>
            <p:cNvSpPr txBox="1"/>
            <p:nvPr/>
          </p:nvSpPr>
          <p:spPr>
            <a:xfrm>
              <a:off x="600456" y="491807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相关积累，由你掌握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22"/>
            <p:cNvSpPr txBox="1"/>
            <p:nvPr/>
          </p:nvSpPr>
          <p:spPr>
            <a:xfrm>
              <a:off x="4399407" y="490855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查看</a:t>
              </a:r>
              <a:endParaRPr lang="zh-CN" sz="21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Line 23"/>
            <p:cNvSpPr/>
            <p:nvPr/>
          </p:nvSpPr>
          <p:spPr>
            <a:xfrm>
              <a:off x="5534025" y="49339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F1E7C8"/>
              </a:solidFill>
            </a:ln>
          </p:spPr>
        </p:sp>
        <p:sp>
          <p:nvSpPr>
            <p:cNvPr id="54" name="TextBox 24"/>
            <p:cNvSpPr txBox="1"/>
            <p:nvPr/>
          </p:nvSpPr>
          <p:spPr>
            <a:xfrm>
              <a:off x="6228207" y="490855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修改</a:t>
              </a:r>
              <a:endParaRPr lang="zh-CN" sz="21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Line 25"/>
            <p:cNvSpPr/>
            <p:nvPr/>
          </p:nvSpPr>
          <p:spPr>
            <a:xfrm>
              <a:off x="7372350" y="49339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F1E7C8"/>
              </a:solidFill>
            </a:ln>
          </p:spPr>
        </p:sp>
        <p:sp>
          <p:nvSpPr>
            <p:cNvPr id="56" name="TextBox 26"/>
            <p:cNvSpPr txBox="1"/>
            <p:nvPr/>
          </p:nvSpPr>
          <p:spPr>
            <a:xfrm>
              <a:off x="8066532" y="490855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决定是否保留</a:t>
              </a:r>
              <a:endParaRPr lang="zh-CN" sz="21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27"/>
            <p:cNvSpPr txBox="1"/>
            <p:nvPr/>
          </p:nvSpPr>
          <p:spPr>
            <a:xfrm>
              <a:off x="600456" y="5461000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不是先套一张预设资料表，而是支持之后更贴近你的理解。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9" name="TextBox 29"/>
          <p:cNvSpPr txBox="1"/>
          <p:nvPr/>
        </p:nvSpPr>
        <p:spPr>
          <a:xfrm>
            <a:off x="604520" y="6169025"/>
            <a:ext cx="1727835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文启 · 在使用中逐步理解你</a:t>
            </a:r>
            <a:endParaRPr lang="zh-CN" sz="10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title"/>
          <p:cNvGrpSpPr/>
          <p:nvPr/>
        </p:nvGrpSpPr>
        <p:grpSpPr>
          <a:xfrm>
            <a:off x="592836" y="571500"/>
            <a:ext cx="5808726" cy="981964"/>
            <a:chOff x="592836" y="571500"/>
            <a:chExt cx="5808726" cy="981964"/>
          </a:xfrm>
        </p:grpSpPr>
        <p:sp>
          <p:nvSpPr>
            <p:cNvPr id="33" name="TextBox 2"/>
            <p:cNvSpPr txBox="1"/>
            <p:nvPr/>
          </p:nvSpPr>
          <p:spPr>
            <a:xfrm>
              <a:off x="603504" y="571500"/>
              <a:ext cx="1530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/ 系统 · 个人背景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"/>
            <p:cNvSpPr txBox="1"/>
            <p:nvPr/>
          </p:nvSpPr>
          <p:spPr>
            <a:xfrm>
              <a:off x="592836" y="90805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不必先填表，也不必每次重来</a:t>
              </a:r>
              <a:endParaRPr lang="zh-CN" sz="33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progressive-understanding"/>
          <p:cNvGrpSpPr/>
          <p:nvPr/>
        </p:nvGrpSpPr>
        <p:grpSpPr>
          <a:xfrm>
            <a:off x="592836" y="2212975"/>
            <a:ext cx="4475988" cy="1617218"/>
            <a:chOff x="592836" y="2212975"/>
            <a:chExt cx="4475988" cy="1617218"/>
          </a:xfrm>
        </p:grpSpPr>
        <p:sp>
          <p:nvSpPr>
            <p:cNvPr id="36" name="TextBox 5"/>
            <p:cNvSpPr txBox="1"/>
            <p:nvPr/>
          </p:nvSpPr>
          <p:spPr>
            <a:xfrm>
              <a:off x="592836" y="221297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背景，边使用边形成。</a:t>
              </a:r>
              <a:endParaRPr lang="zh-CN" sz="33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6"/>
            <p:cNvSpPr txBox="1"/>
            <p:nvPr/>
          </p:nvSpPr>
          <p:spPr>
            <a:xfrm>
              <a:off x="598932" y="2962275"/>
              <a:ext cx="42885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缺少的信息影响判断时，再适当询问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你可以补充，也可以暂时不提供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memory-illustration"/>
          <p:cNvGrpSpPr/>
          <p:nvPr/>
        </p:nvGrpSpPr>
        <p:grpSpPr>
          <a:xfrm>
            <a:off x="7543800" y="1914525"/>
            <a:ext cx="3733800" cy="2247900"/>
            <a:chOff x="7543800" y="1914525"/>
            <a:chExt cx="3733800" cy="2247900"/>
          </a:xfrm>
        </p:grpSpPr>
        <p:sp>
          <p:nvSpPr>
            <p:cNvPr id="39" name="Rectangle 8"/>
            <p:cNvSpPr/>
            <p:nvPr/>
          </p:nvSpPr>
          <p:spPr>
            <a:xfrm>
              <a:off x="7829550" y="1914525"/>
              <a:ext cx="1295400" cy="1562100"/>
            </a:xfrm>
            <a:prstGeom prst="roundRect">
              <a:avLst>
                <a:gd name="adj" fmla="val 735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Line 9"/>
            <p:cNvSpPr/>
            <p:nvPr/>
          </p:nvSpPr>
          <p:spPr>
            <a:xfrm>
              <a:off x="8029575" y="2219325"/>
              <a:ext cx="866775" cy="9525"/>
            </a:xfrm>
            <a:custGeom>
              <a:avLst/>
              <a:gdLst/>
              <a:ahLst/>
              <a:cxnLst/>
              <a:rect l="l" t="t" r="r" b="b"/>
              <a:pathLst>
                <a:path w="866775" h="9525">
                  <a:moveTo>
                    <a:pt x="0" y="0"/>
                  </a:moveTo>
                  <a:lnTo>
                    <a:pt x="866775" y="0"/>
                  </a:lnTo>
                </a:path>
              </a:pathLst>
            </a:custGeom>
            <a:noFill/>
            <a:ln w="38100">
              <a:solidFill>
                <a:schemeClr val="dk1"/>
              </a:solidFill>
            </a:ln>
          </p:spPr>
        </p:sp>
        <p:sp>
          <p:nvSpPr>
            <p:cNvPr id="41" name="Line 10"/>
            <p:cNvSpPr/>
            <p:nvPr/>
          </p:nvSpPr>
          <p:spPr>
            <a:xfrm>
              <a:off x="8029575" y="240030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38100">
              <a:solidFill>
                <a:schemeClr val="dk1"/>
              </a:solidFill>
            </a:ln>
          </p:spPr>
        </p:sp>
        <p:sp>
          <p:nvSpPr>
            <p:cNvPr id="42" name="Rectangle 11"/>
            <p:cNvSpPr/>
            <p:nvPr/>
          </p:nvSpPr>
          <p:spPr>
            <a:xfrm>
              <a:off x="9239250" y="2533650"/>
              <a:ext cx="2038350" cy="885825"/>
            </a:xfrm>
            <a:prstGeom prst="roundRect">
              <a:avLst>
                <a:gd name="adj" fmla="val 1720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12"/>
            <p:cNvSpPr txBox="1"/>
            <p:nvPr/>
          </p:nvSpPr>
          <p:spPr>
            <a:xfrm>
              <a:off x="9643491" y="268922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文件与交流</a:t>
              </a:r>
              <a:endPara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13"/>
            <p:cNvSpPr txBox="1"/>
            <p:nvPr/>
          </p:nvSpPr>
          <p:spPr>
            <a:xfrm>
              <a:off x="9706356" y="30353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逐步形成背景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Ellipse 14"/>
            <p:cNvSpPr/>
            <p:nvPr/>
          </p:nvSpPr>
          <p:spPr>
            <a:xfrm>
              <a:off x="7543800" y="2828925"/>
              <a:ext cx="1333500" cy="133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Ellipse 15"/>
            <p:cNvSpPr/>
            <p:nvPr/>
          </p:nvSpPr>
          <p:spPr>
            <a:xfrm>
              <a:off x="8020050" y="3143250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7" name="Rectangle 16"/>
            <p:cNvSpPr/>
            <p:nvPr/>
          </p:nvSpPr>
          <p:spPr>
            <a:xfrm>
              <a:off x="7905750" y="3600450"/>
              <a:ext cx="609600" cy="314325"/>
            </a:xfrm>
            <a:prstGeom prst="roundRect">
              <a:avLst>
                <a:gd name="adj" fmla="val 48485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8" name="Line 17"/>
            <p:cNvSpPr/>
            <p:nvPr/>
          </p:nvSpPr>
          <p:spPr>
            <a:xfrm>
              <a:off x="8915400" y="349567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9" name="Ellipse 18"/>
            <p:cNvSpPr/>
            <p:nvPr/>
          </p:nvSpPr>
          <p:spPr>
            <a:xfrm>
              <a:off x="9620250" y="3457575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50" name="user-control"/>
          <p:cNvGrpSpPr/>
          <p:nvPr/>
        </p:nvGrpSpPr>
        <p:grpSpPr>
          <a:xfrm>
            <a:off x="600456" y="4648200"/>
            <a:ext cx="10981944" cy="1164844"/>
            <a:chOff x="600456" y="4648200"/>
            <a:chExt cx="10981944" cy="1164844"/>
          </a:xfrm>
        </p:grpSpPr>
        <p:sp>
          <p:nvSpPr>
            <p:cNvPr id="51" name="Line 20"/>
            <p:cNvSpPr/>
            <p:nvPr/>
          </p:nvSpPr>
          <p:spPr>
            <a:xfrm>
              <a:off x="609600" y="4648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F1E7C8"/>
              </a:solidFill>
            </a:ln>
          </p:spPr>
        </p:sp>
        <p:sp>
          <p:nvSpPr>
            <p:cNvPr id="52" name="TextBox 21"/>
            <p:cNvSpPr txBox="1"/>
            <p:nvPr/>
          </p:nvSpPr>
          <p:spPr>
            <a:xfrm>
              <a:off x="600456" y="491807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相关积累，由你掌握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22"/>
            <p:cNvSpPr txBox="1"/>
            <p:nvPr/>
          </p:nvSpPr>
          <p:spPr>
            <a:xfrm>
              <a:off x="4399407" y="490855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查看</a:t>
              </a:r>
              <a:endParaRPr lang="zh-CN" sz="21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Line 23"/>
            <p:cNvSpPr/>
            <p:nvPr/>
          </p:nvSpPr>
          <p:spPr>
            <a:xfrm>
              <a:off x="5534025" y="49339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F1E7C8"/>
              </a:solidFill>
            </a:ln>
          </p:spPr>
        </p:sp>
        <p:sp>
          <p:nvSpPr>
            <p:cNvPr id="55" name="TextBox 24"/>
            <p:cNvSpPr txBox="1"/>
            <p:nvPr/>
          </p:nvSpPr>
          <p:spPr>
            <a:xfrm>
              <a:off x="6228207" y="490855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修改</a:t>
              </a:r>
              <a:endParaRPr lang="zh-CN" sz="21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Line 25"/>
            <p:cNvSpPr/>
            <p:nvPr/>
          </p:nvSpPr>
          <p:spPr>
            <a:xfrm>
              <a:off x="7372350" y="49339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F1E7C8"/>
              </a:solidFill>
            </a:ln>
          </p:spPr>
        </p:sp>
        <p:sp>
          <p:nvSpPr>
            <p:cNvPr id="57" name="TextBox 26"/>
            <p:cNvSpPr txBox="1"/>
            <p:nvPr/>
          </p:nvSpPr>
          <p:spPr>
            <a:xfrm>
              <a:off x="8066532" y="490855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决定是否保留</a:t>
              </a:r>
              <a:endParaRPr lang="zh-CN" sz="21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27"/>
            <p:cNvSpPr txBox="1"/>
            <p:nvPr/>
          </p:nvSpPr>
          <p:spPr>
            <a:xfrm>
              <a:off x="600456" y="5461000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不是先套一张预设资料表，而是支持之后更贴近你的理解。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60" name="TextBox 29"/>
          <p:cNvSpPr txBox="1"/>
          <p:nvPr/>
        </p:nvSpPr>
        <p:spPr>
          <a:xfrm>
            <a:off x="604520" y="6169025"/>
            <a:ext cx="1727835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文启 · 在使用中逐步理解你</a:t>
            </a:r>
            <a:endParaRPr lang="zh-CN" sz="10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836" y="571500"/>
            <a:ext cx="5364480" cy="981964"/>
            <a:chOff x="592836" y="571500"/>
            <a:chExt cx="5364480" cy="981964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71500"/>
              <a:ext cx="698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 / 场景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908050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不同的人，不同的阅读重点</a:t>
              </a:r>
              <a:endParaRPr lang="zh-CN" sz="33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student-scenario"/>
          <p:cNvGrpSpPr/>
          <p:nvPr/>
        </p:nvGrpSpPr>
        <p:grpSpPr>
          <a:xfrm>
            <a:off x="619125" y="2047875"/>
            <a:ext cx="8516493" cy="820293"/>
            <a:chOff x="619125" y="2047875"/>
            <a:chExt cx="8516493" cy="820293"/>
          </a:xfrm>
        </p:grpSpPr>
        <p:sp>
          <p:nvSpPr>
            <p:cNvPr id="5" name="Ellipse 5"/>
            <p:cNvSpPr/>
            <p:nvPr/>
          </p:nvSpPr>
          <p:spPr>
            <a:xfrm>
              <a:off x="619125" y="2181225"/>
              <a:ext cx="590550" cy="590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19150" y="2276475"/>
              <a:ext cx="190500" cy="190500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2514600"/>
              <a:ext cx="304800" cy="142875"/>
            </a:xfrm>
            <a:prstGeom prst="roundRect">
              <a:avLst>
                <a:gd name="adj" fmla="val 46667"/>
              </a:avLst>
            </a:prstGeom>
            <a:solidFill>
              <a:srgbClr val="2B2B2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64183" y="229870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学生</a:t>
              </a:r>
              <a:endParaRPr lang="zh-CN" sz="24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38931" y="232727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奖学金通知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56707" y="228917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13982" y="2047875"/>
              <a:ext cx="2421636" cy="8202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项目成果可能用得上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仍有条件需要确认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teacher-scenario"/>
          <p:cNvGrpSpPr/>
          <p:nvPr/>
        </p:nvGrpSpPr>
        <p:grpSpPr>
          <a:xfrm>
            <a:off x="609600" y="3209925"/>
            <a:ext cx="10972800" cy="906018"/>
            <a:chOff x="609600" y="3209925"/>
            <a:chExt cx="10972800" cy="906018"/>
          </a:xfrm>
        </p:grpSpPr>
        <p:sp>
          <p:nvSpPr>
            <p:cNvPr id="13" name="Line 13"/>
            <p:cNvSpPr/>
            <p:nvPr/>
          </p:nvSpPr>
          <p:spPr>
            <a:xfrm>
              <a:off x="609600" y="32099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F1E7C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619125" y="3419475"/>
              <a:ext cx="590550" cy="5905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19150" y="3514725"/>
              <a:ext cx="190500" cy="190500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2000" y="3752850"/>
              <a:ext cx="304800" cy="142875"/>
            </a:xfrm>
            <a:prstGeom prst="roundRect">
              <a:avLst>
                <a:gd name="adj" fmla="val 46667"/>
              </a:avLst>
            </a:prstGeom>
            <a:solidFill>
              <a:srgbClr val="2B2B2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64183" y="353695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教师</a:t>
              </a:r>
              <a:endParaRPr lang="zh-CN" sz="24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38931" y="356552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申报指南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56707" y="352742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13982" y="3295650"/>
              <a:ext cx="3221736" cy="8202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结合正在推进的研究方向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了解值得进一步探索的机会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business-scenario"/>
          <p:cNvGrpSpPr/>
          <p:nvPr/>
        </p:nvGrpSpPr>
        <p:grpSpPr>
          <a:xfrm>
            <a:off x="609600" y="4448175"/>
            <a:ext cx="10972800" cy="906018"/>
            <a:chOff x="609600" y="4448175"/>
            <a:chExt cx="10972800" cy="906018"/>
          </a:xfrm>
        </p:grpSpPr>
        <p:sp>
          <p:nvSpPr>
            <p:cNvPr id="22" name="Line 22"/>
            <p:cNvSpPr/>
            <p:nvPr/>
          </p:nvSpPr>
          <p:spPr>
            <a:xfrm>
              <a:off x="609600" y="44481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F1E7C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619125" y="4657725"/>
              <a:ext cx="590550" cy="5905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819150" y="4752975"/>
              <a:ext cx="190500" cy="190500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2000" y="4991100"/>
              <a:ext cx="304800" cy="142875"/>
            </a:xfrm>
            <a:prstGeom prst="roundRect">
              <a:avLst>
                <a:gd name="adj" fmla="val 46667"/>
              </a:avLst>
            </a:prstGeom>
            <a:solidFill>
              <a:srgbClr val="2B2B2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464183" y="47752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业务负责人</a:t>
              </a:r>
              <a:endParaRPr lang="zh-CN" sz="24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38931" y="480377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合作方案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56707" y="476567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13982" y="4533900"/>
              <a:ext cx="3221736" cy="8202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结合当前项目，找出关注点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列出需要向对方确认的问题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604520" y="6169025"/>
            <a:ext cx="2413635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不以某一种身份，或某一类通知为边界</a:t>
            </a:r>
            <a:endParaRPr lang="zh-CN" sz="10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836" y="571500"/>
            <a:ext cx="5808726" cy="981964"/>
            <a:chOff x="592836" y="571500"/>
            <a:chExt cx="5808726" cy="981964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71500"/>
              <a:ext cx="698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 / 行动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90805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理解之后，再由你决定下一步</a:t>
              </a:r>
              <a:endParaRPr lang="zh-CN" sz="33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decision-sequence"/>
          <p:cNvGrpSpPr/>
          <p:nvPr/>
        </p:nvGrpSpPr>
        <p:grpSpPr>
          <a:xfrm>
            <a:off x="598932" y="1984375"/>
            <a:ext cx="9740646" cy="410718"/>
            <a:chOff x="598932" y="1984375"/>
            <a:chExt cx="9740646" cy="410718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98437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关联判断</a:t>
              </a:r>
              <a:endParaRPr lang="zh-CN" sz="21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913507" y="198437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94657" y="198437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用户选择</a:t>
              </a:r>
              <a:endParaRPr lang="zh-CN" sz="21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33082" y="198437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04732" y="198437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可编辑产物</a:t>
              </a:r>
              <a:endParaRPr lang="zh-CN" sz="21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action-artifacts"/>
          <p:cNvGrpSpPr/>
          <p:nvPr/>
        </p:nvGrpSpPr>
        <p:grpSpPr>
          <a:xfrm>
            <a:off x="600456" y="2784475"/>
            <a:ext cx="3650742" cy="2572258"/>
            <a:chOff x="600456" y="2784475"/>
            <a:chExt cx="3650742" cy="2572258"/>
          </a:xfrm>
        </p:grpSpPr>
        <p:sp>
          <p:nvSpPr>
            <p:cNvPr id="11" name="TextBox 11"/>
            <p:cNvSpPr txBox="1"/>
            <p:nvPr/>
          </p:nvSpPr>
          <p:spPr>
            <a:xfrm>
              <a:off x="600456" y="278447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沿着已经确认的方向，继续准备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Ellipse 12"/>
            <p:cNvSpPr/>
            <p:nvPr/>
          </p:nvSpPr>
          <p:spPr>
            <a:xfrm>
              <a:off x="638175" y="33909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6107" y="327977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申请陈述草稿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638175" y="382905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6107" y="371792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需要核实的问题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638175" y="42672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6107" y="415607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材料清单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Ellipse 18"/>
            <p:cNvSpPr/>
            <p:nvPr/>
          </p:nvSpPr>
          <p:spPr>
            <a:xfrm>
              <a:off x="638175" y="470535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6107" y="459422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合作讨论提纲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2742" y="509270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如果只想了解，或暂时无关，也可以到此结束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confirmation-boundary"/>
          <p:cNvGrpSpPr/>
          <p:nvPr/>
        </p:nvGrpSpPr>
        <p:grpSpPr>
          <a:xfrm>
            <a:off x="609600" y="5619750"/>
            <a:ext cx="10972800" cy="447675"/>
            <a:chOff x="609600" y="5619750"/>
            <a:chExt cx="10972800" cy="447675"/>
          </a:xfrm>
        </p:grpSpPr>
        <p:sp>
          <p:nvSpPr>
            <p:cNvPr id="28" name="Rectangle 28"/>
            <p:cNvSpPr/>
            <p:nvPr/>
          </p:nvSpPr>
          <p:spPr>
            <a:xfrm>
              <a:off x="609600" y="5619750"/>
              <a:ext cx="10972800" cy="447675"/>
            </a:xfrm>
            <a:prstGeom prst="roundRect">
              <a:avLst>
                <a:gd name="adj" fmla="val 1702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027170" y="570865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重要决定和对外发送，仍然由你确认。</a:t>
              </a:r>
              <a:endPara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604520" y="6264275"/>
            <a:ext cx="2555240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已有理解与确认的信息，继续用在下一步</a:t>
            </a:r>
            <a:endParaRPr lang="zh-CN" sz="10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7055" y="2708275"/>
            <a:ext cx="4845050" cy="2598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5"/>
          <p:cNvSpPr/>
          <p:nvPr/>
        </p:nvSpPr>
        <p:spPr>
          <a:xfrm>
            <a:off x="334645" y="2750820"/>
            <a:ext cx="3011170" cy="192786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4" name="title"/>
          <p:cNvGrpSpPr/>
          <p:nvPr/>
        </p:nvGrpSpPr>
        <p:grpSpPr>
          <a:xfrm>
            <a:off x="592836" y="571500"/>
            <a:ext cx="6252972" cy="981964"/>
            <a:chOff x="592836" y="571500"/>
            <a:chExt cx="6252972" cy="981964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71500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06 / 阶段与愿景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90805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先验证个人端，再探索更广协作</a:t>
              </a:r>
              <a:endParaRPr lang="zh-CN" sz="33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420235" y="2047875"/>
            <a:ext cx="987425" cy="3517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未来探索</a:t>
            </a:r>
            <a:endParaRPr lang="zh-CN" sz="18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903085" y="1989455"/>
            <a:ext cx="1316990" cy="469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团队协作</a:t>
            </a:r>
            <a:endParaRPr lang="zh-CN" sz="2400" b="1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255760" y="1925955"/>
            <a:ext cx="1639570" cy="469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企业级应用</a:t>
            </a:r>
            <a:endParaRPr lang="zh-CN" sz="2400" b="1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1" name="scope"/>
          <p:cNvGrpSpPr/>
          <p:nvPr/>
        </p:nvGrpSpPr>
        <p:grpSpPr>
          <a:xfrm>
            <a:off x="598932" y="5632450"/>
            <a:ext cx="5109972" cy="410718"/>
            <a:chOff x="598932" y="5632450"/>
            <a:chExt cx="5109972" cy="410718"/>
          </a:xfrm>
        </p:grpSpPr>
        <p:sp>
          <p:nvSpPr>
            <p:cNvPr id="20" name="TextBox 20"/>
            <p:cNvSpPr txBox="1"/>
            <p:nvPr/>
          </p:nvSpPr>
          <p:spPr>
            <a:xfrm>
              <a:off x="598932" y="5632450"/>
              <a:ext cx="51099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不以某一种身份，或某一类通知为边界。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04520" y="6264275"/>
            <a:ext cx="1848485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当前验证与未来方向分开呈现</a:t>
            </a:r>
            <a:endParaRPr lang="zh-CN" sz="10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556635" y="2581593"/>
            <a:ext cx="7943215" cy="2403475"/>
          </a:xfrm>
          <a:prstGeom prst="rect">
            <a:avLst/>
          </a:prstGeom>
          <a:effectLst/>
        </p:spPr>
      </p:pic>
      <p:sp>
        <p:nvSpPr>
          <p:cNvPr id="28" name="TextBox 7"/>
          <p:cNvSpPr txBox="1"/>
          <p:nvPr/>
        </p:nvSpPr>
        <p:spPr>
          <a:xfrm>
            <a:off x="537972" y="3032760"/>
            <a:ext cx="264645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个人端 MVP</a:t>
            </a:r>
            <a:endParaRPr lang="zh-CN" sz="3600" b="1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TextBox 8"/>
          <p:cNvSpPr txBox="1"/>
          <p:nvPr/>
        </p:nvSpPr>
        <p:spPr>
          <a:xfrm>
            <a:off x="545592" y="3987800"/>
            <a:ext cx="200025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先验证这条路径</a:t>
            </a:r>
            <a:endParaRPr lang="zh-CN" sz="21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5" name="Line 9"/>
          <p:cNvSpPr/>
          <p:nvPr/>
        </p:nvSpPr>
        <p:spPr>
          <a:xfrm flipV="1">
            <a:off x="537845" y="3683000"/>
            <a:ext cx="2423795" cy="76200"/>
          </a:xfrm>
          <a:custGeom>
            <a:avLst/>
            <a:gdLst/>
            <a:ahLst/>
            <a:cxnLst/>
            <a:rect l="l" t="t" r="r" b="b"/>
            <a:pathLst>
              <a:path w="5543550" h="9525">
                <a:moveTo>
                  <a:pt x="0" y="0"/>
                </a:moveTo>
                <a:lnTo>
                  <a:pt x="5543550" y="0"/>
                </a:lnTo>
              </a:path>
            </a:pathLst>
          </a:custGeom>
          <a:noFill/>
          <a:ln w="9525">
            <a:solidFill>
              <a:schemeClr val="accent2"/>
            </a:solidFill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0550" y="701675"/>
            <a:ext cx="3695700" cy="2794000"/>
            <a:chOff x="590550" y="701675"/>
            <a:chExt cx="3695700" cy="2794000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701675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文启 / 从一份文件开始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1695450"/>
              <a:ext cx="3695700" cy="1800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825"/>
                </a:lnSpc>
              </a:pPr>
              <a:r>
                <a:rPr lang="zh-CN" sz="4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收到文件，</a:t>
              </a:r>
              <a:br>
                <a:rPr lang="zh-CN" sz="4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4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先交给文启。</a:t>
              </a:r>
              <a:endParaRPr lang="zh-CN" sz="48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" name="closing-action"/>
          <p:cNvGrpSpPr/>
          <p:nvPr/>
        </p:nvGrpSpPr>
        <p:grpSpPr>
          <a:xfrm>
            <a:off x="617982" y="4038600"/>
            <a:ext cx="2421636" cy="1099693"/>
            <a:chOff x="617982" y="4038600"/>
            <a:chExt cx="2421636" cy="1099693"/>
          </a:xfrm>
        </p:grpSpPr>
        <p:sp>
          <p:nvSpPr>
            <p:cNvPr id="5" name="Line 5"/>
            <p:cNvSpPr/>
            <p:nvPr/>
          </p:nvSpPr>
          <p:spPr>
            <a:xfrm>
              <a:off x="628650" y="403860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17982" y="4289425"/>
              <a:ext cx="2421636" cy="848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理解它对你的意义，</a:t>
              </a:r>
              <a:b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再决定下一步。</a:t>
              </a:r>
              <a:endParaRPr lang="zh-CN" sz="21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final-takeaway"/>
          <p:cNvGrpSpPr/>
          <p:nvPr/>
        </p:nvGrpSpPr>
        <p:grpSpPr>
          <a:xfrm>
            <a:off x="600456" y="5670550"/>
            <a:ext cx="5833872" cy="352044"/>
            <a:chOff x="600456" y="5670550"/>
            <a:chExt cx="5833872" cy="352044"/>
          </a:xfrm>
        </p:grpSpPr>
        <p:sp>
          <p:nvSpPr>
            <p:cNvPr id="15" name="TextBox 15"/>
            <p:cNvSpPr txBox="1"/>
            <p:nvPr/>
          </p:nvSpPr>
          <p:spPr>
            <a:xfrm>
              <a:off x="600456" y="567055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不必每次从头阅读、筛选，也不必每次从头介绍自己。</a:t>
              </a:r>
              <a:endPara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04520" y="6264275"/>
            <a:ext cx="1304290" cy="205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文启 · 个人行动助手</a:t>
            </a:r>
            <a:endParaRPr lang="zh-CN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3125" y="1849120"/>
            <a:ext cx="5833110" cy="3289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wenqi_roadshow_brand_yellow">
  <a:themeElements>
    <a:clrScheme name="wenqi_roadshow_brand_yellow">
      <a:dk1>
        <a:srgbClr val="6B6B6B"/>
      </a:dk1>
      <a:lt1>
        <a:srgbClr val="FFFDF8"/>
      </a:lt1>
      <a:dk2>
        <a:srgbClr val="1F497D"/>
      </a:dk2>
      <a:lt2>
        <a:srgbClr val="FFF7D6"/>
      </a:lt2>
      <a:accent1>
        <a:srgbClr val="F6C945"/>
      </a:accent1>
      <a:accent2>
        <a:srgbClr val="E6AD19"/>
      </a:accent2>
      <a:accent3>
        <a:srgbClr val="F6C945"/>
      </a:accent3>
      <a:accent4>
        <a:srgbClr val="F6C945"/>
      </a:accent4>
      <a:accent5>
        <a:srgbClr val="2B2B2B"/>
      </a:accent5>
      <a:accent6>
        <a:srgbClr val="6B6B6B"/>
      </a:accent6>
      <a:hlink>
        <a:srgbClr val="E6AD19"/>
      </a:hlink>
      <a:folHlink>
        <a:srgbClr val="F6C945"/>
      </a:folHlink>
    </a:clrScheme>
    <a:fontScheme name="wenqi_roadshow_brand_yellow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nqi_roadshow_brand_yell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enqi_roadshow_brand_yellow">
  <a:themeElements>
    <a:clrScheme name="wenqi_roadshow_brand_yellow">
      <a:dk1>
        <a:srgbClr val="6B6B6B"/>
      </a:dk1>
      <a:lt1>
        <a:srgbClr val="FFFDF8"/>
      </a:lt1>
      <a:dk2>
        <a:srgbClr val="1F497D"/>
      </a:dk2>
      <a:lt2>
        <a:srgbClr val="FFF7D6"/>
      </a:lt2>
      <a:accent1>
        <a:srgbClr val="F6C945"/>
      </a:accent1>
      <a:accent2>
        <a:srgbClr val="E6AD19"/>
      </a:accent2>
      <a:accent3>
        <a:srgbClr val="F6C945"/>
      </a:accent3>
      <a:accent4>
        <a:srgbClr val="F6C945"/>
      </a:accent4>
      <a:accent5>
        <a:srgbClr val="2B2B2B"/>
      </a:accent5>
      <a:accent6>
        <a:srgbClr val="6B6B6B"/>
      </a:accent6>
      <a:hlink>
        <a:srgbClr val="E6AD19"/>
      </a:hlink>
      <a:folHlink>
        <a:srgbClr val="F6C945"/>
      </a:folHlink>
    </a:clrScheme>
    <a:fontScheme name="wenqi_roadshow_brand_yellow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nqi_roadshow_brand_yell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1186</Words>
  <Application>WPS 演示</Application>
  <PresentationFormat>On-screen Show (16:9)</PresentationFormat>
  <Paragraphs>248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方正雅意黑 GB18030L2</vt:lpstr>
      <vt:lpstr>微软雅黑</vt:lpstr>
      <vt:lpstr>宋体</vt:lpstr>
      <vt:lpstr>Arial Unicode MS</vt:lpstr>
      <vt:lpstr>汉仪书宋二KW</vt:lpstr>
      <vt:lpstr>Calibri</vt:lpstr>
      <vt:lpstr>Helvetica Neue</vt:lpstr>
      <vt:lpstr>微软雅黑</vt:lpstr>
      <vt:lpstr>wenqi_roadshow_brand_yellow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贾雪玲</cp:lastModifiedBy>
  <cp:revision>3</cp:revision>
  <dcterms:created xsi:type="dcterms:W3CDTF">2026-10-04T02:10:54Z</dcterms:created>
  <dcterms:modified xsi:type="dcterms:W3CDTF">2026-10-04T02:10:54Z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559A8F7C89D2A20920C3BF6AF097A4F0_42</vt:lpwstr>
  </property>
</Properties>
</file>